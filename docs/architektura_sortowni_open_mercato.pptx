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4fb1d6ca9d4b8d" /><Relationship Type="http://schemas.openxmlformats.org/officeDocument/2006/relationships/extended-properties" Target="/docProps/app.xml" Id="R496bf0c8fbf14602" /><Relationship Type="http://schemas.openxmlformats.org/officeDocument/2006/relationships/officeDocument" Target="/ppt/presentation.xml" Id="R818225cbb39b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6e5a18deca42cd"/>
  </p:sldMasterIdLst>
  <p:notesMasterIdLst>
    <p:notesMasterId xmlns:r="http://schemas.openxmlformats.org/officeDocument/2006/relationships" r:id="Rf0c14dbe43c44442"/>
  </p:notesMasterIdLst>
  <p:sldIdLst>
    <p:sldId xmlns:r="http://schemas.openxmlformats.org/officeDocument/2006/relationships" id="256" r:id="R3751e863bee242b6"/>
    <p:sldId xmlns:r="http://schemas.openxmlformats.org/officeDocument/2006/relationships" id="257" r:id="Rfbc495f458ab4916"/>
    <p:sldId xmlns:r="http://schemas.openxmlformats.org/officeDocument/2006/relationships" id="258" r:id="R9ea0b23119fe4643"/>
    <p:sldId xmlns:r="http://schemas.openxmlformats.org/officeDocument/2006/relationships" id="259" r:id="Re34c9306a2b8446e"/>
    <p:sldId xmlns:r="http://schemas.openxmlformats.org/officeDocument/2006/relationships" id="260" r:id="R9e21e13796f145de"/>
    <p:sldId xmlns:r="http://schemas.openxmlformats.org/officeDocument/2006/relationships" id="261" r:id="Ra2e2eba2d34c4e15"/>
    <p:sldId xmlns:r="http://schemas.openxmlformats.org/officeDocument/2006/relationships" id="262" r:id="R27426275b47046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f0a87dfa24426a" /><Relationship Type="http://schemas.openxmlformats.org/officeDocument/2006/relationships/slideMaster" Target="/ppt/slideMasters/slideMaster1.xml" Id="Rc56e5a18deca42cd" /><Relationship Type="http://schemas.openxmlformats.org/officeDocument/2006/relationships/notesMaster" Target="/ppt/notesMasters/notesMaster1.xml" Id="Rf0c14dbe43c44442" /><Relationship Type="http://schemas.openxmlformats.org/officeDocument/2006/relationships/presProps" Target="/ppt/presProps.xml" Id="R05d3950ff595424d" /><Relationship Type="http://schemas.openxmlformats.org/officeDocument/2006/relationships/tableStyles" Target="/ppt/tableStyles.xml" Id="R3a30f2abb51347b6" /><Relationship Type="http://schemas.openxmlformats.org/officeDocument/2006/relationships/slide" Target="/ppt/slides/slide1.xml" Id="R3751e863bee242b6" /><Relationship Type="http://schemas.openxmlformats.org/officeDocument/2006/relationships/slide" Target="/ppt/slides/slide2.xml" Id="Rfbc495f458ab4916" /><Relationship Type="http://schemas.openxmlformats.org/officeDocument/2006/relationships/slide" Target="/ppt/slides/slide3.xml" Id="R9ea0b23119fe4643" /><Relationship Type="http://schemas.openxmlformats.org/officeDocument/2006/relationships/slide" Target="/ppt/slides/slide4.xml" Id="Re34c9306a2b8446e" /><Relationship Type="http://schemas.openxmlformats.org/officeDocument/2006/relationships/slide" Target="/ppt/slides/slide5.xml" Id="R9e21e13796f145de" /><Relationship Type="http://schemas.openxmlformats.org/officeDocument/2006/relationships/slide" Target="/ppt/slides/slide6.xml" Id="Ra2e2eba2d34c4e15" /><Relationship Type="http://schemas.openxmlformats.org/officeDocument/2006/relationships/slide" Target="/ppt/slides/slide7.xml" Id="R27426275b47046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7434f512d4e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edd79fcf3d44fd" /><Relationship Type="http://schemas.openxmlformats.org/officeDocument/2006/relationships/notesMaster" Target="/ppt/notesMasters/notesMaster1.xml" Id="R60ff6463822046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e02e4963594d88" /><Relationship Type="http://schemas.openxmlformats.org/officeDocument/2006/relationships/notesMaster" Target="/ppt/notesMasters/notesMaster1.xml" Id="Rdcd9182c2f6a49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11e25c43774eca" /><Relationship Type="http://schemas.openxmlformats.org/officeDocument/2006/relationships/notesMaster" Target="/ppt/notesMasters/notesMaster1.xml" Id="R3238de4714174e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9abeb3c8164630" /><Relationship Type="http://schemas.openxmlformats.org/officeDocument/2006/relationships/notesMaster" Target="/ppt/notesMasters/notesMaster1.xml" Id="Rdcd31fdc177949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eb4e8c0a5649fd" /><Relationship Type="http://schemas.openxmlformats.org/officeDocument/2006/relationships/notesMaster" Target="/ppt/notesMasters/notesMaster1.xml" Id="Rb9ea0adf894642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23bb29423140f1" /><Relationship Type="http://schemas.openxmlformats.org/officeDocument/2006/relationships/notesMaster" Target="/ppt/notesMasters/notesMaster1.xml" Id="R738a72fc354a48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9749a3456f4769" /><Relationship Type="http://schemas.openxmlformats.org/officeDocument/2006/relationships/notesMaster" Target="/ppt/notesMasters/notesMaster1.xml" Id="R740028f943984e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7452ab74641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49315dc2bf44d5" /><Relationship Type="http://schemas.openxmlformats.org/officeDocument/2006/relationships/slideLayout" Target="/ppt/slideLayouts/slideLayout1.xml" Id="R73da494d8ff744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a494d8ff744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05df5b3304c9c" /><Relationship Type="http://schemas.openxmlformats.org/officeDocument/2006/relationships/notesSlide" Target="/ppt/notesSlides/notesSlide1.xml" Id="Ra515f02c780c40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fc7fca2264334" /><Relationship Type="http://schemas.openxmlformats.org/officeDocument/2006/relationships/notesSlide" Target="/ppt/notesSlides/notesSlide2.xml" Id="Ref35bf5d7a2c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25dc0cbe24186" /><Relationship Type="http://schemas.openxmlformats.org/officeDocument/2006/relationships/notesSlide" Target="/ppt/notesSlides/notesSlide3.xml" Id="R602c6d5430ba4c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fecd602114d29" /><Relationship Type="http://schemas.openxmlformats.org/officeDocument/2006/relationships/notesSlide" Target="/ppt/notesSlides/notesSlide4.xml" Id="R8b3f5c0215de4a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b02d3d0854c80" /><Relationship Type="http://schemas.openxmlformats.org/officeDocument/2006/relationships/notesSlide" Target="/ppt/notesSlides/notesSlide5.xml" Id="R38702ba265684b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2a32c1a1140fc" /><Relationship Type="http://schemas.openxmlformats.org/officeDocument/2006/relationships/notesSlide" Target="/ppt/notesSlides/notesSlide6.xml" Id="R8f3a850ec92843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7c2af071544ef" /><Relationship Type="http://schemas.openxmlformats.org/officeDocument/2006/relationships/notesSlide" Target="/ppt/notesSlides/notesSlide7.xml" Id="Rf8c53dfb2cbe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E9EE4-53A7-47CD-8377-87E4B8BE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Mercato dla sortowni odpadów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81924-A1C6-4FF7-AF2D-857A9FC5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8001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70184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8D9E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8D9E8"/>
                </a:solidFill>
                <a:latin typeface="Aptos"/>
                <a:ea typeface="Aptos"/>
                <a:cs typeface="Aptos"/>
              </a:rPr>
              <a:t>Schemat projektu i komunikacja między komponentami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ABACD-5D5F-4584-9B1F-1B6B124A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190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63650"/>
          </a:solidFill>
          <a:ln xmlns:a="http://schemas.openxmlformats.org/drawingml/2006/main" w="9525">
            <a:solidFill>
              <a:srgbClr val="37698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 legacy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SQLite, XML-RPC, pliki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46308-D934-4162-814D-BF8EB531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2190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65A7A"/>
          </a:solidFill>
          <a:ln xmlns:a="http://schemas.openxmlformats.org/drawingml/2006/main" w="9525">
            <a:solidFill>
              <a:srgbClr val="408EA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Integracja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Klient Python i import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7F501-6FBE-442C-8715-1D16C0BC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276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2605E"/>
          </a:solidFill>
          <a:ln xmlns:a="http://schemas.openxmlformats.org/drawingml/2006/main" w="9525">
            <a:solidFill>
              <a:srgbClr val="3FA09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Mercato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ERP i Physical AI</a:t>
            </a:r>
          </a:p>
        </p:txBody>
      </p:sp>
      <p:cxnSp>
        <p:nvCxnSpPr>
          <p:cNvPr id="1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38385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B8D9"/>
            </a:solidFill>
            <a:prstDash val="solid"/>
            <a:tailEnd type="triangle" w="sm" len="sm"/>
          </a:ln>
        </p:spPr>
      </p:cxnSp>
      <p:cxnSp>
        <p:nvCxnSpPr>
          <p:cNvPr id="1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286500" y="38385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D2C8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BDFF5-537A-427F-A494-A7F77BF5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7620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AD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8CADA"/>
                </a:solidFill>
                <a:latin typeface="Aptos"/>
                <a:ea typeface="Aptos"/>
                <a:cs typeface="Aptos"/>
              </a:rPr>
              <a:t>Zakres: kod źródłowy, README oraz dokumentacja physical-ai</a:t>
            </a:r>
          </a:p>
        </p:txBody>
      </p:sp>
    </p:spTree>
    <p:extLst>
      <p:ext uri="{BB962C8B-B14F-4D97-AF65-F5344CB8AC3E}">
        <p14:creationId xmlns:p14="http://schemas.microsoft.com/office/powerpoint/2010/main" val="13412762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3382E-7AFC-43C6-9C1B-512352D8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92111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Struktura repozytorium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18E14-0771-43B3-BC45-7BEAFD24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592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Cztery warstwy kodu rozdzielają symulację, integrację, aplikację i dokumentację.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130B2-DE79-4CF2-8869-FCEE47B9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CE5E3-F57A-4EE1-B9B8-53577BD8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legacy/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412A6-4FAB-4F7B-B738-08E76D56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Symulator webERP</a:t>
            </a:r>
          </a:p>
          <a:p xmlns:a="http://schemas.openxmlformats.org/drawingml/2006/main">
            <a:pPr algn="l">
              <a:defRPr sz="1200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SQLite, XML-RPC, eksport plików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69977-F5BA-4892-B0FA-362AA54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1450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66B0"/>
          </a:solidFill>
          <a:ln xmlns:a="http://schemas.openxmlformats.org/drawingml/2006/main" w="9525">
            <a:solidFill>
              <a:srgbClr val="1666B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client/ i out/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3F6DE-B196-4A4B-97EF-38C4B138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33600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1666B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Synchronizacja Python</a:t>
            </a:r>
          </a:p>
          <a:p xmlns:a="http://schemas.openxmlformats.org/drawingml/2006/main">
            <a:pPr algn="l">
              <a:defRPr sz="1200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CSV i znacznik przyrostowy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CCC00-2802-4146-81C1-8725BFFC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mercato/modules/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4A4F1-F0B2-48D4-A858-3C37D908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6F5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Moduły TypeScript</a:t>
            </a:r>
          </a:p>
          <a:p xmlns:a="http://schemas.openxmlformats.org/drawingml/2006/main">
            <a:pPr algn="l">
              <a:defRPr sz="1200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ERP, sterowanie halą, API i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B0D04-8989-48CF-9141-DAE39634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14500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0805C"/>
          </a:solidFill>
          <a:ln xmlns:a="http://schemas.openxmlformats.org/drawingml/2006/main" w="9525">
            <a:solidFill>
              <a:srgbClr val="20805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physical-ai/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84DB8-B9F7-4B3E-97F4-94CD93DF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33600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9525">
            <a:solidFill>
              <a:srgbClr val="20805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Specyfikacje techniczne</a:t>
            </a:r>
          </a:p>
          <a:p xmlns:a="http://schemas.openxmlformats.org/drawingml/2006/main">
            <a:pPr algn="l">
              <a:defRPr sz="1200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bezpieczeństwo, zdarzenia, ERP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F8F1C-2C1B-4440-8405-CC1CD2F3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0287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Dodatkowo: tests/ obejmuje testy integracyjne kanału legacy, a webui/ zawiera statyczną makietę starego interfejsu.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53610-3A71-4974-AA7E-0CD0FBDE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WMS / CRM / Sales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B6861-17EB-4F01-98C8-88BA2E23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24450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Physical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95CF9-C4D4-40A7-8C70-79C5D9EB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24450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Warstwa prezentacji</a:t>
            </a:r>
          </a:p>
        </p:txBody>
      </p:sp>
      <p:cxnSp>
        <p:nvCxnSpPr>
          <p:cNvPr id="3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200400" y="5391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4DF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05650" y="5391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D4D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968F6-8A75-4AE1-8775-61AFB598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620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23697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Analiza repozytorium openmercato_garbagekind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5B8D1-7A52-4BD4-83CC-D1EF07F4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3441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8159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8CCD7-229E-45C2-A6C6-529A58FF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92111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Architektura funkcjonalna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0A817-2475-456D-A883-D8EA1867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592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Warstwa hali przekazuje obserwacje i wyniki do Open Mercato. Platforma nie steruje trajektorią robota.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946A7-123A-425A-87E1-3DB5227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107D1-8A42-4983-95E7-7BC9D3A4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Hala</a:t>
            </a:r>
          </a:p>
          <a:p xmlns:a="http://schemas.openxmlformats.org/drawingml/2006/main">
            <a:pPr algn="ctr">
              <a:defRPr sz="142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robot SO-101</a:t>
            </a:r>
          </a:p>
          <a:p xmlns:a="http://schemas.openxmlformats.org/drawingml/2006/main">
            <a:pPr algn="ctr">
              <a:defRPr sz="142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waga</a:t>
            </a:r>
          </a:p>
          <a:p xmlns:a="http://schemas.openxmlformats.org/drawingml/2006/main">
            <a:pPr algn="ctr">
              <a:defRPr sz="142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kamery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A61DC-7FA8-44B5-A19D-835B91AE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1666875" cy="17145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1666B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Edge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tożsamość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sesje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heartbeat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C27FB-09FA-4AAD-AAEE-E9C49684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66850"/>
            <a:ext cx="2381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5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Physical AI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fleet, policy, safety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deployment, episodes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rollout, datasets, compute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F10AF-B8F6-4B9F-9A8D-6CAB3E3A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66850"/>
            <a:ext cx="2190750" cy="2286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9525">
            <a:solidFill>
              <a:srgbClr val="20805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Most hala – ERP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work_orders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vision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hmi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A0489-E8E1-4D07-A61A-C712EBEF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7675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1666B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Open Mercato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WMS, katalog, CRM, sprzedaż</a:t>
            </a:r>
          </a:p>
        </p:txBody>
      </p: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81250" y="26098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10125" y="26098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66B0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001000" y="26098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906000" y="37528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805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3336C-B27C-44B8-9D65-4010D95C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0012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69639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Dane z urządzeń: stan sesji, liczba chwytów, masa, materiał wizyjny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3DEAD-F62C-44C1-8E51-9FD666D1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620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23697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Analiza repozytorium openmercato_garbagekind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C843F-3B78-47D7-AD9F-A9E9A425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3441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70948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60408-6051-4C83-80FF-586CA6A9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92111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Kanał legacy i import danych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A53E1-6F5E-441A-9E02-8DB4A59A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592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Klient synchronizacji łączy dwa źródła, normalizuje dane i zapisuje pliki wejściowe do importu.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4DE4F-C71E-4900-A266-0AC43042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88E6F-9489-4450-A2D5-C57C533D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legacy/sortownia.db</a:t>
            </a:r>
          </a:p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404C8-7EB6-4FC7-BCEE-65C0A1B4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server.py</a:t>
            </a:r>
          </a:p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XML-RPC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055A0-D019-4586-8C48-8A3169C5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spooler.py</a:t>
            </a:r>
          </a:p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CSV i ruchy.xlsx</a:t>
            </a:r>
          </a:p>
        </p:txBody>
      </p:sp>
      <p:cxnSp>
        <p:nvCxnSpPr>
          <p:cNvPr id="24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590675" y="264795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71500" y="2647950"/>
            <a:ext cx="1019175" cy="18669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B45309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F3425-E0A9-41D0-848B-FEE414E5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2762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1666B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client/weberp_sync.py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logowanie i cookie sesji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normalizacja kg → Mg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deduplikacja ruchów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95550" y="3514725"/>
            <a:ext cx="1409700" cy="66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66B0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495550" y="3514725"/>
            <a:ext cx="1409700" cy="1343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66B0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12653-8FE8-4EE3-8EA7-EBD70EF0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33675"/>
            <a:ext cx="1809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6F5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out/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CSV i .last_sync</a:t>
            </a:r>
          </a:p>
        </p:txBody>
      </p: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667500" y="35147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16B15-C6F4-45DE-A726-9043B9C3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33675"/>
            <a:ext cx="1524000" cy="15621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9525">
            <a:solidFill>
              <a:srgbClr val="20805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sortownia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import do WMS, katalogu, CRM i sprzedaży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810750" y="35147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805C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CE867-B68E-4799-B15E-6A8ACC56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620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23697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Analiza repozytorium openmercato_garbagekind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73126-9454-41E6-9817-82AB01A7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3441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6567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3443F5-2ED0-46A0-8B0A-D31A8908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92111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Cykl wykonawczy robota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64792-3C18-4A8A-9FFC-DD41DC64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592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Uprawnienia do pracy powstają po weryfikacji maszyny, modelu i warunków bezpieczeństwa.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B5DEE-7456-4598-B6EC-D931518F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E512C-D790-44A8-886B-77CD8C06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5716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B0"/>
          </a:solidFill>
          <a:ln xmlns:a="http://schemas.openxmlformats.org/drawingml/2006/main" w="9525">
            <a:solidFill>
              <a:srgbClr val="1666B0"/>
            </a:solidFill>
            <a:prstDash val="solid"/>
          </a:ln>
        </p:spPr>
        <p:txBody>
          <a:bodyPr xmlns:a="http://schemas.openxmlformats.org/drawingml/2006/main" anchor="ctr">
            <a:normAutofit fontScale="66552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AE1D4-8115-451D-99CC-8D6375BF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5716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1666B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rejestr robotów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i kalibracji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643C2-39A9-40CA-B6FD-FB2EEE86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09750"/>
            <a:ext cx="15716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B0"/>
          </a:solidFill>
          <a:ln xmlns:a="http://schemas.openxmlformats.org/drawingml/2006/main" w="9525">
            <a:solidFill>
              <a:srgbClr val="1666B0"/>
            </a:solidFill>
            <a:prstDash val="solid"/>
          </a:ln>
        </p:spPr>
        <p:txBody>
          <a:bodyPr xmlns:a="http://schemas.openxmlformats.org/drawingml/2006/main" anchor="ctr">
            <a:normAutofit fontScale="66552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038A5-0BEC-485C-9981-32275AA0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14550"/>
            <a:ext cx="15716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1666B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tożsamość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i łączność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A82E8-9DE8-4C35-8F23-39537707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15716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rmAutofit fontScale="66552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 registry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4DE0F-D6EC-410F-BA0A-8A8D956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15716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6F5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wersja modelu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i zgodność DOF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2087C-FA77-46B0-8E6B-B1518DA1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15716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66552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3CEE1-C11A-485F-BA11-B8AB58A0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15716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dopuszczenie celi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i E-Stop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89005-B596-42E0-B067-819CCD59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15716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anchor="ctr">
            <a:normAutofit fontScale="66552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40692-8153-41DA-85DB-8FED76D6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15716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dzierżawa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czasowa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5077B-DEF0-4FE9-8E94-8DB40E67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09750"/>
            <a:ext cx="15716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805C"/>
          </a:solidFill>
          <a:ln xmlns:a="http://schemas.openxmlformats.org/drawingml/2006/main" w="9525">
            <a:solidFill>
              <a:srgbClr val="20805C"/>
            </a:solidFill>
            <a:prstDash val="solid"/>
          </a:ln>
        </p:spPr>
        <p:txBody>
          <a:bodyPr xmlns:a="http://schemas.openxmlformats.org/drawingml/2006/main" anchor="ctr">
            <a:normAutofit fontScale="66552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Episodes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2A330-FC51-4FC3-87CC-8CF4960B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14550"/>
            <a:ext cx="157162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9525">
            <a:solidFill>
              <a:srgbClr val="20805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trajektorie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i interwencje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81225" y="26003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B7A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29075" y="26003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B7A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876925" y="26003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B7A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24775" y="26003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B7A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572625" y="26003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B7A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BED82-4393-4FA9-AFD4-158FF11A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76750"/>
            <a:ext cx="2381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9525">
            <a:solidFill>
              <a:srgbClr val="20805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Rollout</a:t>
            </a:r>
          </a:p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metriki i bramki wdrożenia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3C9FE-815C-43A9-A2E8-2464D934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76750"/>
            <a:ext cx="285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6F5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Datasets</a:t>
            </a:r>
          </a:p>
          <a:p xmlns:a="http://schemas.openxmlformats.org/drawingml/2006/main">
            <a:pPr algn="ctr">
              <a:defRPr sz="127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zbiory uczące i przebiegi treningowe</a:t>
            </a:r>
          </a:p>
        </p:txBody>
      </p:sp>
      <p:cxnSp>
        <p:nvCxnSpPr>
          <p:cNvPr id="51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3781425" y="3086100"/>
            <a:ext cx="6853238" cy="1390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0805C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72050" y="4810125"/>
            <a:ext cx="2019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22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5091113" y="3086100"/>
            <a:ext cx="3328988" cy="1390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C0C72C-0CAD-4BE5-A575-8FCA4C63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8515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Zdarzenia opisują zmianę stanu. Heartbeat i odnowienie dzierżawy pozostają ruchem operacyjnym, a nie osobnym zdarzeniem.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903DE-EE92-40E8-AEBD-659EC2BF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620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23697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Analiza repozytorium openmercato_garbagekind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1DFA3C-7438-4AD9-9021-2FD3E1AC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3441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2816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9CB00-9D4E-4269-A20F-C5935C9D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92111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Uzgadnianie partii: hala i WMS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984FC-51BD-41B2-BC15-24E508C7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592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Moduł work_orders porównuje deklarację robota z masą z wagi. Do magazynu trafia masa faktyczna.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E9000-CCE4-442D-A544-7E72C58C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AB39E-C76F-4B94-8676-A23526B8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2000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F5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Episodes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liczba udanych chwytów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 oknie czasowym partii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0FB14-A52E-41F9-8A5B-85394255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2000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Waga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masa w gramach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liczba całkowita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B9DAE-4BE7-4ADD-AEF9-EA2933F0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34290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1666B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work_orders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reconcile()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expectedGrams i driftGrams</a:t>
            </a:r>
          </a:p>
          <a:p xmlns:a="http://schemas.openxmlformats.org/drawingml/2006/main">
            <a:pPr algn="ctr">
              <a:defRPr sz="135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werdykt: ok / overclaim / underclaim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71750" y="2466975"/>
            <a:ext cx="1524000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571750" y="3409950"/>
            <a:ext cx="1524000" cy="1247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45309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034E6-FB3C-47F5-9BD0-D06F32ED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47850"/>
            <a:ext cx="2095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9F6EE"/>
          </a:solidFill>
          <a:ln xmlns:a="http://schemas.openxmlformats.org/drawingml/2006/main" w="9525">
            <a:solidFill>
              <a:srgbClr val="20805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WMS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wms.lots.create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wms.inventory.receive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masa z wagi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2182E-AA64-48F0-9C07-9EB42120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57650"/>
            <a:ext cx="2095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Rollout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zdarzenie dryfu</a:t>
            </a:r>
          </a:p>
          <a:p xmlns:a="http://schemas.openxmlformats.org/drawingml/2006/main">
            <a:pPr algn="ctr">
              <a:defRPr sz="1200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ocena maszyny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524750" y="2447925"/>
            <a:ext cx="1666875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0805C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24750" y="3409950"/>
            <a:ext cx="1666875" cy="1247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42318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847A3-CB17-4F0F-A61B-49A688D0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6554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Rozjazd nie blokuje przyjęcia materiału. Werdykt dotyczy oceny robota i wersji polityki.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CF676-1E8E-47AC-BB81-D2602D4B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620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23697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Analiza repozytorium openmercato_garbagekind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3D05E-3A0B-447D-BEC6-21085879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3441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19566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A2D75A-EBB6-4A1C-B5DD-CB6E6910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92111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Kanały komunikacji i odpowiedzialność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FF8C9-A48E-4F46-B3A5-C9F1DE2B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592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Komponenty wymieniają dane przez wyraźnie określone kontrakty.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9263E-6309-40BD-A23C-55F425D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93DA8-43DC-421A-8D4D-8C3A6C3C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381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Nadawca / odbiorca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55F7B-335F-4473-99C6-D4F0E071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562100"/>
            <a:ext cx="2571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Mechanizm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518AF-3CB5-47CA-8332-5F67312B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562100"/>
            <a:ext cx="5867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Przekazywana odpowiedzialność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3CBDE-46C7-4DFC-A474-746E7421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Legacy → klient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CFB16-3F95-4A06-837B-6260C1D1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62150"/>
            <a:ext cx="2571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XML-RPC, CSV, XLSX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A0AAC-C773-437D-AAEB-F281FDF5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62150"/>
            <a:ext cx="5867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Dane referencyjne, ruchy, salda i dokumenty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D7E5B-2907-4103-8D58-85B27679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Klient → import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3EF84-6436-47E5-B3AC-EDEC00F8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2571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CSV w out/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566CE-F758-4B79-B32B-845D7357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71750"/>
            <a:ext cx="5867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Znormalizowane dane z deduplikacją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9F7A4-28A1-406A-861D-755CFB5F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Moduły → moduły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1B8B5-6BFB-41A9-B95E-C0F0C1EB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2571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Szyna komend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0AA8F-7B91-4B40-AE09-B984DA89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5867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Zapisy w domenach, np. work_orders → WMS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E59E8-6329-4673-8B9B-3C350AD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Moduły → obserwatorzy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02660-D23B-4E79-80EB-6EDFCE11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90950"/>
            <a:ext cx="2571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Zdarzenia domenowe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B8E3D-9FCE-4A05-9540-28A104C7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90950"/>
            <a:ext cx="5867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Zmiana stanu, alarmy i bramki wdrożenia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22E38-5B7A-4692-A346-78433D89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Urządzenia → 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E5CD8-27F4-47CC-A81A-38D62D93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00550"/>
            <a:ext cx="2571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API agenta i heartbeat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A9EB8-226F-4ECD-BFE0-24199DCE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00550"/>
            <a:ext cx="5867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Tożsamość maszyny, sesja i stan łączności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63816-20DA-4E76-9E62-FDA5BFC3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735"/>
                </a:solidFill>
                <a:latin typeface="Aptos"/>
                <a:ea typeface="Aptos"/>
                <a:cs typeface="Aptos"/>
              </a:rPr>
              <a:t>Hala → work_orders / vision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DCFC2-EC73-48F6-98C5-379A20DC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10150"/>
            <a:ext cx="2571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Pomiary i materiały wizyjne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94D38D-FEDA-4D4E-B93D-EC028C7F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10150"/>
            <a:ext cx="5867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4D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427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735"/>
                </a:solidFill>
                <a:latin typeface="Aptos"/>
                <a:ea typeface="Aptos"/>
                <a:cs typeface="Aptos"/>
              </a:rPr>
              <a:t>Masa, liczba chwytów, retencja nagrań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26A5A-57B4-489A-A3DB-7B1B8EC8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7275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6554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Granica bezpieczeństwa: ERP rejestruje wynik pracy, ale nie wydaje poleceń trajektorii sterownikom robotów.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2082C-C0A9-4D4C-BD3D-7656EDEF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620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23697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Analiza repozytorium openmercato_garbagekind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D58693-4648-4147-B8B5-CD369D4F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334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>
            <a:normAutofit fontScale="34411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B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2997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2026-09-19T17:44:55.9510000Z</dcterms:created>
  <dcterms:modified xsi:type="dcterms:W3CDTF">2026-09-19T17:44:55.9510000Z</dcterms:modified>
</coreProperties>
</file>